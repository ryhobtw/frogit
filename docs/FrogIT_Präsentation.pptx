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548640"/>
            <a:ext cx="2560320" cy="256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4747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4EC96B"/>
                </a:solidFill>
                <a:latin typeface="Segoe UI Light"/>
              </a:defRPr>
            </a:pPr>
            <a:r>
              <a:t>FrogIT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CCCCC"/>
                </a:solidFill>
                <a:latin typeface="Segoe UI Light"/>
              </a:defRPr>
            </a:pPr>
            <a:r>
              <a:t>Entspannung neu definiert – mit Sound und Fröschen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212080"/>
            <a:ext cx="3657600" cy="50800"/>
          </a:xfrm>
          <a:prstGeom prst="rect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999AA"/>
                </a:solidFill>
                <a:latin typeface="Segoe UI"/>
              </a:defRPr>
            </a:pPr>
            <a:r>
              <a:t>Moritz  ·  Luca  ·  Jonas  ·  Hilda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2743200" cy="50800"/>
          </a:xfrm>
          <a:prstGeom prst="rect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9144000" cy="64008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8720" y="1645920"/>
            <a:ext cx="457200" cy="457200"/>
          </a:xfrm>
          <a:prstGeom prst="ellipse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645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🎯  Projektziel &amp;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6642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EC96B"/>
                </a:solidFill>
                <a:latin typeface="Segoe UI"/>
              </a:defRPr>
            </a:pPr>
            <a:r>
              <a:t>Moritz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331720"/>
            <a:ext cx="9144000" cy="64008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88720" y="2423160"/>
            <a:ext cx="457200" cy="457200"/>
          </a:xfrm>
          <a:prstGeom prst="ellipse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423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🏗️  Architekturentscheidungen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4414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EC96B"/>
                </a:solidFill>
                <a:latin typeface="Segoe UI"/>
              </a:defRPr>
            </a:pPr>
            <a:r>
              <a:t>Jonas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108960"/>
            <a:ext cx="9144000" cy="64008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88720" y="3200400"/>
            <a:ext cx="457200" cy="457200"/>
          </a:xfrm>
          <a:prstGeom prst="ellipse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200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🧩  Designprinzipien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21868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EC96B"/>
                </a:solidFill>
                <a:latin typeface="Segoe UI"/>
              </a:defRPr>
            </a:pPr>
            <a:r>
              <a:t>Hilda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886200"/>
            <a:ext cx="9144000" cy="64008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88720" y="3977640"/>
            <a:ext cx="457200" cy="457200"/>
          </a:xfrm>
          <a:prstGeom prst="ellipse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977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🔧  Tech-Stack &amp; Plattformen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99592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EC96B"/>
                </a:solidFill>
                <a:latin typeface="Segoe UI"/>
              </a:defRPr>
            </a:pPr>
            <a:r>
              <a:t>Luca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663440"/>
            <a:ext cx="9144000" cy="64008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88720" y="4754880"/>
            <a:ext cx="457200" cy="457200"/>
          </a:xfrm>
          <a:prstGeom prst="ellipse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4754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🖥️  Live-Demo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477316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EC96B"/>
                </a:solidFill>
                <a:latin typeface="Segoe UI"/>
              </a:defRPr>
            </a:pPr>
            <a:r>
              <a:t>Luca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440680"/>
            <a:ext cx="9144000" cy="64008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88720" y="5532120"/>
            <a:ext cx="457200" cy="457200"/>
          </a:xfrm>
          <a:prstGeom prst="ellipse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5532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📊  Projektmanagement &amp; Erkenntnisse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55504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EC96B"/>
                </a:solidFill>
                <a:latin typeface="Segoe UI"/>
              </a:defRPr>
            </a:pPr>
            <a:r>
              <a:t>Moritz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0" b="1">
                <a:solidFill>
                  <a:srgbClr val="4EC96B"/>
                </a:solidFill>
                <a:latin typeface="Segoe UI Light"/>
              </a:defRPr>
            </a:pPr>
            <a: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2560320"/>
            <a:ext cx="5486400" cy="50800"/>
          </a:xfrm>
          <a:prstGeom prst="rect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Projektziel &amp; Vision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22815" y="320040"/>
            <a:ext cx="2011680" cy="411480"/>
          </a:xfrm>
          <a:prstGeom prst="roundRect">
            <a:avLst/>
          </a:prstGeom>
          <a:solidFill>
            <a:srgbClr val="2D8A4E"/>
          </a:solidFill>
          <a:ln w="12700">
            <a:solidFill>
              <a:srgbClr val="4E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🎤 Moritz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22815" y="320040"/>
            <a:ext cx="2011680" cy="411480"/>
          </a:xfrm>
          <a:prstGeom prst="roundRect">
            <a:avLst/>
          </a:prstGeom>
          <a:solidFill>
            <a:srgbClr val="2D8A4E"/>
          </a:solidFill>
          <a:ln w="12700">
            <a:solidFill>
              <a:srgbClr val="4E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🎤 Moritz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Was ist FrogIT?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2286000" cy="50800"/>
          </a:xfrm>
          <a:prstGeom prst="rect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4572000" cy="201168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4E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737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EC96B"/>
                </a:solidFill>
                <a:latin typeface="Segoe UI"/>
              </a:defRPr>
            </a:pPr>
            <a:r>
              <a:t>🔊  Audio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8600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 b="0">
                <a:solidFill>
                  <a:srgbClr val="CCCCCC"/>
                </a:solidFill>
                <a:latin typeface="Segoe UI"/>
              </a:defRPr>
            </a:pPr>
            <a:r>
              <a:t>Individuelle Ambient-Soundkulissen erstellen</a:t>
            </a:r>
          </a:p>
          <a:p>
            <a:pPr>
              <a:spcAft>
                <a:spcPts val="960"/>
              </a:spcAft>
              <a:defRPr sz="1600" b="0">
                <a:solidFill>
                  <a:srgbClr val="CCCCCC"/>
                </a:solidFill>
                <a:latin typeface="Segoe UI"/>
              </a:defRPr>
            </a:pPr>
            <a:r>
              <a:t>Regen, Wind, Frösche, Feuer-Knistern, …</a:t>
            </a:r>
          </a:p>
          <a:p>
            <a:pPr>
              <a:spcAft>
                <a:spcPts val="960"/>
              </a:spcAft>
              <a:defRPr sz="1600" b="0">
                <a:solidFill>
                  <a:srgbClr val="CCCCCC"/>
                </a:solidFill>
                <a:latin typeface="Segoe UI"/>
              </a:defRPr>
            </a:pPr>
            <a:r>
              <a:t>Lautstärke &amp; Frequenz individuell anpassbar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4572000" cy="201168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4E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737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EC96B"/>
                </a:solidFill>
                <a:latin typeface="Segoe UI"/>
              </a:defRPr>
            </a:pPr>
            <a:r>
              <a:t>🐸  Visuell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28600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 b="0">
                <a:solidFill>
                  <a:srgbClr val="CCCCCC"/>
                </a:solidFill>
                <a:latin typeface="Segoe UI"/>
              </a:defRPr>
            </a:pPr>
            <a:r>
              <a:t>Animierte Frösche auf dem Desktop</a:t>
            </a:r>
          </a:p>
          <a:p>
            <a:pPr>
              <a:spcAft>
                <a:spcPts val="960"/>
              </a:spcAft>
              <a:defRPr sz="1600" b="0">
                <a:solidFill>
                  <a:srgbClr val="CCCCCC"/>
                </a:solidFill>
                <a:latin typeface="Segoe UI"/>
              </a:defRPr>
            </a:pPr>
            <a:r>
              <a:t>Interaktiv: Klick → lustiger Spruch</a:t>
            </a:r>
          </a:p>
          <a:p>
            <a:pPr>
              <a:spcAft>
                <a:spcPts val="960"/>
              </a:spcAft>
              <a:defRPr sz="1600" b="0">
                <a:solidFill>
                  <a:srgbClr val="CCCCCC"/>
                </a:solidFill>
                <a:latin typeface="Segoe UI"/>
              </a:defRPr>
            </a:pPr>
            <a:r>
              <a:t>Nicht-intrusives Overlay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114800"/>
            <a:ext cx="10058400" cy="914400"/>
          </a:xfrm>
          <a:prstGeom prst="roundRect">
            <a:avLst/>
          </a:prstGeom>
          <a:solidFill>
            <a:srgbClr val="151525"/>
          </a:solidFill>
          <a:ln w="12700">
            <a:solidFill>
              <a:srgbClr val="2D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206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7EE87E"/>
                </a:solidFill>
                <a:latin typeface="Segoe UI Light"/>
              </a:defRPr>
            </a:pPr>
            <a:r>
              <a:t>"Ein Ort zum Abschalten – beim Einschlafen, Lernen oder Arbeiten."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03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AA"/>
                </a:solidFill>
                <a:latin typeface="Segoe UI"/>
              </a:defRPr>
            </a:pPr>
            <a:r>
              <a:t>🎓 Studierende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5303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AA"/>
                </a:solidFill>
                <a:latin typeface="Segoe UI"/>
              </a:defRPr>
            </a:pPr>
            <a:r>
              <a:t>💤 Entspannung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5303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AA"/>
                </a:solidFill>
                <a:latin typeface="Segoe UI"/>
              </a:defRPr>
            </a:pPr>
            <a:r>
              <a:t>💻 Hintergrund-Atmosphäre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22815" y="320040"/>
            <a:ext cx="2011680" cy="411480"/>
          </a:xfrm>
          <a:prstGeom prst="roundRect">
            <a:avLst/>
          </a:prstGeom>
          <a:solidFill>
            <a:srgbClr val="2D8A4E"/>
          </a:solidFill>
          <a:ln w="12700">
            <a:solidFill>
              <a:srgbClr val="4E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🎤 Moritz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Kernfeatures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2286000" cy="50800"/>
          </a:xfrm>
          <a:prstGeom prst="rect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10058400" cy="7772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73152" cy="777240"/>
          </a:xfrm>
          <a:prstGeom prst="rect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600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600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Sound-Mixer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93852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99AA"/>
                </a:solidFill>
                <a:latin typeface="Segoe UI"/>
              </a:defRPr>
            </a:pPr>
            <a:r>
              <a:t>Mehrere Sounds mischen, Lautstärke individuell regeln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14600"/>
            <a:ext cx="10058400" cy="7772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2514600"/>
            <a:ext cx="73152" cy="777240"/>
          </a:xfrm>
          <a:prstGeom prst="rect">
            <a:avLst/>
          </a:prstGeom>
          <a:solidFill>
            <a:srgbClr val="7EE8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Frosch-Animation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8986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99AA"/>
                </a:solidFill>
                <a:latin typeface="Segoe UI"/>
              </a:defRPr>
            </a:pPr>
            <a:r>
              <a:t>Frösche bewegen sich über den gesamten Desktop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474720"/>
            <a:ext cx="10058400" cy="7772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474720"/>
            <a:ext cx="73152" cy="777240"/>
          </a:xfrm>
          <a:prstGeom prst="rect">
            <a:avLst/>
          </a:prstGeom>
          <a:solidFill>
            <a:srgbClr val="6BB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3520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520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Interaktive Frösche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8587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99AA"/>
                </a:solidFill>
                <a:latin typeface="Segoe UI"/>
              </a:defRPr>
            </a:pPr>
            <a:r>
              <a:t>Klick → lustiger Spruch oder Quaken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434840"/>
            <a:ext cx="10058400" cy="7772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4434840"/>
            <a:ext cx="73152" cy="77724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016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Frosch-Trolling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8188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99AA"/>
                </a:solidFill>
                <a:latin typeface="Segoe UI"/>
              </a:defRPr>
            </a:pPr>
            <a:r>
              <a:t>Frösche fangen den Mauszeiger oder explodieren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394960"/>
            <a:ext cx="10058400" cy="7772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5394960"/>
            <a:ext cx="73152" cy="777240"/>
          </a:xfrm>
          <a:prstGeom prst="rect">
            <a:avLst/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0160" y="5440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5440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Presets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7790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99AA"/>
                </a:solidFill>
                <a:latin typeface="Segoe UI"/>
              </a:defRPr>
            </a:pPr>
            <a:r>
              <a:t>Soundkulissen als JSON speichern und laden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22815" y="320040"/>
            <a:ext cx="2011680" cy="411480"/>
          </a:xfrm>
          <a:prstGeom prst="roundRect">
            <a:avLst/>
          </a:prstGeom>
          <a:solidFill>
            <a:srgbClr val="2D8A4E"/>
          </a:solidFill>
          <a:ln w="12700">
            <a:solidFill>
              <a:srgbClr val="4E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🎤 Moritz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Use-Case-Diagramm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2743200" cy="50800"/>
          </a:xfrm>
          <a:prstGeom prst="rect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e_case_diagr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7769989" cy="4572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0" y="1828800"/>
            <a:ext cx="4389120" cy="228600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4E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9202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6B"/>
                </a:solidFill>
                <a:latin typeface="Segoe UI"/>
              </a:defRPr>
            </a:pPr>
            <a:r>
              <a:t>⭐  Demo-Fokus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46888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99"/>
              </a:spcAft>
              <a:defRPr sz="1500" b="1">
                <a:solidFill>
                  <a:srgbClr val="4EC96B"/>
                </a:solidFill>
                <a:latin typeface="Segoe UI"/>
              </a:defRPr>
            </a:pPr>
            <a:r>
              <a:t>⭐ Soundkulisse erstellen &amp; mischen</a:t>
            </a:r>
          </a:p>
          <a:p>
            <a:pPr>
              <a:spcAft>
                <a:spcPts val="599"/>
              </a:spcAft>
              <a:defRPr sz="1500" b="0">
                <a:solidFill>
                  <a:srgbClr val="CCCCCC"/>
                </a:solidFill>
                <a:latin typeface="Segoe UI"/>
              </a:defRPr>
            </a:pPr>
            <a:r>
              <a:t>     → UI mit Slidern (Demo 1)</a:t>
            </a:r>
          </a:p>
          <a:p>
            <a:pPr>
              <a:spcAft>
                <a:spcPts val="599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599"/>
              </a:spcAft>
              <a:defRPr sz="1500" b="1">
                <a:solidFill>
                  <a:srgbClr val="4EC96B"/>
                </a:solidFill>
                <a:latin typeface="Segoe UI"/>
              </a:defRPr>
            </a:pPr>
            <a:r>
              <a:t>⭐ Frosch-Animation auf dem Desktop</a:t>
            </a:r>
          </a:p>
          <a:p>
            <a:pPr>
              <a:spcAft>
                <a:spcPts val="599"/>
              </a:spcAft>
              <a:defRPr sz="1500" b="0">
                <a:solidFill>
                  <a:srgbClr val="CCCCCC"/>
                </a:solidFill>
                <a:latin typeface="Segoe UI"/>
              </a:defRPr>
            </a:pPr>
            <a:r>
              <a:t>     → Transparente OS-Fenster (Demo 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0" b="1">
                <a:solidFill>
                  <a:srgbClr val="4EC96B"/>
                </a:solidFill>
                <a:latin typeface="Segoe UI Light"/>
              </a:defRPr>
            </a:pPr>
            <a: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2560320"/>
            <a:ext cx="5486400" cy="50800"/>
          </a:xfrm>
          <a:prstGeom prst="rect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Architekturentscheidungen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22815" y="320040"/>
            <a:ext cx="2011680" cy="411480"/>
          </a:xfrm>
          <a:prstGeom prst="roundRect">
            <a:avLst/>
          </a:prstGeom>
          <a:solidFill>
            <a:srgbClr val="2D8A4E"/>
          </a:solidFill>
          <a:ln w="12700">
            <a:solidFill>
              <a:srgbClr val="4E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🎤 Jonas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22815" y="320040"/>
            <a:ext cx="2011680" cy="411480"/>
          </a:xfrm>
          <a:prstGeom prst="roundRect">
            <a:avLst/>
          </a:prstGeom>
          <a:solidFill>
            <a:srgbClr val="2D8A4E"/>
          </a:solidFill>
          <a:ln w="12700">
            <a:solidFill>
              <a:srgbClr val="4E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🎤 Jonas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Qualitätsbaum – Priorisierung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3657600" cy="50800"/>
          </a:xfrm>
          <a:prstGeom prst="rect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10058400" cy="7772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73152" cy="777240"/>
          </a:xfrm>
          <a:prstGeom prst="rect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9659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  <a:latin typeface="Segoe UI"/>
              </a:defRPr>
            </a:pPr>
            <a:r>
              <a:t>Low-Latency Audio ≤ 50 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737360"/>
            <a:ext cx="1645920" cy="365760"/>
          </a:xfrm>
          <a:prstGeom prst="roundRect">
            <a:avLst/>
          </a:prstGeom>
          <a:solidFill>
            <a:srgbClr val="151525"/>
          </a:solidFill>
          <a:ln w="12700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D93D"/>
                </a:solidFill>
              </a:defRPr>
            </a:pPr>
            <a:r>
              <a:t>★ HOCH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14600"/>
            <a:ext cx="10058400" cy="7772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2514600"/>
            <a:ext cx="73152" cy="777240"/>
          </a:xfrm>
          <a:prstGeom prst="rect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2606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Wartbarkeit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9260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  <a:latin typeface="Segoe UI"/>
              </a:defRPr>
            </a:pPr>
            <a:r>
              <a:t>Erweiterbarkeit mit Single-File-Ressourcen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2697480"/>
            <a:ext cx="1645920" cy="365760"/>
          </a:xfrm>
          <a:prstGeom prst="roundRect">
            <a:avLst/>
          </a:prstGeom>
          <a:solidFill>
            <a:srgbClr val="151525"/>
          </a:solidFill>
          <a:ln w="12700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D93D"/>
                </a:solidFill>
              </a:defRPr>
            </a:pPr>
            <a:r>
              <a:t>★ HOCH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474720"/>
            <a:ext cx="10058400" cy="7772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474720"/>
            <a:ext cx="73152" cy="777240"/>
          </a:xfrm>
          <a:prstGeom prst="rect">
            <a:avLst/>
          </a:prstGeom>
          <a:solidFill>
            <a:srgbClr val="6BB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Zuverlässigkeit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886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  <a:latin typeface="Segoe UI"/>
              </a:defRPr>
            </a:pPr>
            <a:r>
              <a:t>Graceful Handling bei fehlenden Dateien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3657600"/>
            <a:ext cx="1645920" cy="365760"/>
          </a:xfrm>
          <a:prstGeom prst="roundRect">
            <a:avLst/>
          </a:prstGeom>
          <a:solidFill>
            <a:srgbClr val="151525"/>
          </a:solidFill>
          <a:ln w="12700">
            <a:solidFill>
              <a:srgbClr val="9999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9999AA"/>
                </a:solidFill>
              </a:defRPr>
            </a:pPr>
            <a:r>
              <a:t>MITTEL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434840"/>
            <a:ext cx="10058400" cy="7772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4434840"/>
            <a:ext cx="73152" cy="777240"/>
          </a:xfrm>
          <a:prstGeom prst="rect">
            <a:avLst/>
          </a:prstGeom>
          <a:solidFill>
            <a:srgbClr val="6BB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0160" y="4526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Usability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8463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  <a:latin typeface="Segoe UI"/>
              </a:defRPr>
            </a:pPr>
            <a:r>
              <a:t>Nicht-intrusives Overlay, Toggle ≤ 200 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4617720"/>
            <a:ext cx="1645920" cy="365760"/>
          </a:xfrm>
          <a:prstGeom prst="roundRect">
            <a:avLst/>
          </a:prstGeom>
          <a:solidFill>
            <a:srgbClr val="151525"/>
          </a:solidFill>
          <a:ln w="12700">
            <a:solidFill>
              <a:srgbClr val="9999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9999AA"/>
                </a:solidFill>
              </a:defRPr>
            </a:pPr>
            <a:r>
              <a:t>MITTEL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394960"/>
            <a:ext cx="10058400" cy="7772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5394960"/>
            <a:ext cx="73152" cy="777240"/>
          </a:xfrm>
          <a:prstGeom prst="rect">
            <a:avLst/>
          </a:prstGeom>
          <a:solidFill>
            <a:srgbClr val="9999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016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Sicherheit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806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  <a:latin typeface="Segoe UI"/>
              </a:defRPr>
            </a:pPr>
            <a:r>
              <a:t>Nur lokale Speicherung, kein Netzwerkverkehr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5577840"/>
            <a:ext cx="1645920" cy="365760"/>
          </a:xfrm>
          <a:prstGeom prst="roundRect">
            <a:avLst/>
          </a:prstGeom>
          <a:solidFill>
            <a:srgbClr val="151525"/>
          </a:solidFill>
          <a:ln w="12700">
            <a:solidFill>
              <a:srgbClr val="9999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9999AA"/>
                </a:solidFill>
              </a:defRPr>
            </a:pPr>
            <a:r>
              <a:t>NIEDRIG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22815" y="320040"/>
            <a:ext cx="2011680" cy="411480"/>
          </a:xfrm>
          <a:prstGeom prst="roundRect">
            <a:avLst/>
          </a:prstGeom>
          <a:solidFill>
            <a:srgbClr val="2D8A4E"/>
          </a:solidFill>
          <a:ln w="12700">
            <a:solidFill>
              <a:srgbClr val="4E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🎤 Jonas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ADR 0001 – Dedizierter Audio-Thread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3657600" cy="50800"/>
          </a:xfrm>
          <a:prstGeom prst="rect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371600"/>
            <a:ext cx="4846320" cy="109728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E8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4173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B6B"/>
                </a:solidFill>
                <a:latin typeface="Segoe UI"/>
              </a:defRPr>
            </a:pPr>
            <a:r>
              <a:t>❌ 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7830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Audio + UI auf einem Thread → Stottern &amp; Lag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4846320" cy="109728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4E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4173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6B"/>
                </a:solidFill>
                <a:latin typeface="Segoe UI"/>
              </a:defRPr>
            </a:pPr>
            <a:r>
              <a:t>✅  Entscheidung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7830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Multi-Threading mit dediziertem Audio-Thread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914400" y="2926080"/>
          <a:ext cx="10058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4572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✅ Vorteile</a:t>
                      </a:r>
                    </a:p>
                  </a:txBody>
                  <a:tcPr marL="101600" marR="101600" marT="50800" marB="50800">
                    <a:solidFill>
                      <a:srgbClr val="2D8A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❌ Nachteile</a:t>
                      </a:r>
                    </a:p>
                  </a:txBody>
                  <a:tcPr marL="101600" marR="101600" marT="50800" marB="50800">
                    <a:solidFill>
                      <a:srgbClr val="2D8A4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Stabiles, latenzfreies Audio</a:t>
                      </a:r>
                    </a:p>
                  </a:txBody>
                  <a:tcPr marL="101600" marR="101600" marT="50800" marB="5080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Höhere Code-Komplexität</a:t>
                      </a:r>
                    </a:p>
                  </a:txBody>
                  <a:tcPr marL="101600" marR="101600" marT="50800" marB="50800"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UI bleibt reaktionsfähig</a:t>
                      </a:r>
                    </a:p>
                  </a:txBody>
                  <a:tcPr marL="101600" marR="101600" marT="50800" marB="50800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Synchronisation nötig</a:t>
                      </a:r>
                    </a:p>
                  </a:txBody>
                  <a:tcPr marL="101600" marR="101600" marT="50800" marB="50800">
                    <a:solidFill>
                      <a:srgbClr val="2A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Einfache Integration mit SFML</a:t>
                      </a:r>
                    </a:p>
                  </a:txBody>
                  <a:tcPr marL="101600" marR="101600" marT="50800" marB="5080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Mehr Testing (Race Conditions)</a:t>
                      </a:r>
                    </a:p>
                  </a:txBody>
                  <a:tcPr marL="101600" marR="101600" marT="50800" marB="50800"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3200400" y="5303520"/>
            <a:ext cx="5486400" cy="640080"/>
          </a:xfrm>
          <a:prstGeom prst="roundRect">
            <a:avLst/>
          </a:prstGeom>
          <a:solidFill>
            <a:srgbClr val="2D8A4E"/>
          </a:solidFill>
          <a:ln w="12700">
            <a:solidFill>
              <a:srgbClr val="4E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🎯  Ziel: ≤ 50 ms End-to-End-Reaktionszeit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22815" y="320040"/>
            <a:ext cx="2011680" cy="411480"/>
          </a:xfrm>
          <a:prstGeom prst="roundRect">
            <a:avLst/>
          </a:prstGeom>
          <a:solidFill>
            <a:srgbClr val="2D8A4E"/>
          </a:solidFill>
          <a:ln w="12700">
            <a:solidFill>
              <a:srgbClr val="4E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🎤 Jonas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ADR 0002 &amp; 0003 – Tech-Stack &amp; Presets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4114800" cy="50800"/>
          </a:xfrm>
          <a:prstGeom prst="rect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4846320" cy="411480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6BB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BB3E8"/>
                </a:solidFill>
                <a:latin typeface="Segoe UI"/>
              </a:defRPr>
            </a:pPr>
            <a:r>
              <a:t>ADR 0002 – SFML + Dear ImGui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188720" y="2194560"/>
          <a:ext cx="42976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2578608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Option</a:t>
                      </a:r>
                    </a:p>
                  </a:txBody>
                  <a:tcPr marL="101600" marR="101600" marT="50800" marB="50800">
                    <a:solidFill>
                      <a:srgbClr val="2D8A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Bewertung</a:t>
                      </a:r>
                    </a:p>
                  </a:txBody>
                  <a:tcPr marL="101600" marR="101600" marT="50800" marB="50800">
                    <a:solidFill>
                      <a:srgbClr val="2D8A4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SFML + ImGui  ✅</a:t>
                      </a:r>
                    </a:p>
                  </a:txBody>
                  <a:tcPr marL="101600" marR="101600" marT="50800" marB="5080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Leichtgewichtig, schnell erlernbar</a:t>
                      </a:r>
                    </a:p>
                  </a:txBody>
                  <a:tcPr marL="101600" marR="101600" marT="50800" marB="50800"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SDL2 + ImGui</a:t>
                      </a:r>
                    </a:p>
                  </a:txBody>
                  <a:tcPr marL="101600" marR="101600" marT="50800" marB="50800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Mehr Boilerplate</a:t>
                      </a:r>
                    </a:p>
                  </a:txBody>
                  <a:tcPr marL="101600" marR="101600" marT="50800" marB="50800">
                    <a:solidFill>
                      <a:srgbClr val="2A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Qt</a:t>
                      </a:r>
                    </a:p>
                  </a:txBody>
                  <a:tcPr marL="101600" marR="101600" marT="50800" marB="5080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Zu umfangreich</a:t>
                      </a:r>
                    </a:p>
                  </a:txBody>
                  <a:tcPr marL="101600" marR="101600" marT="50800" marB="50800"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Custom</a:t>
                      </a:r>
                    </a:p>
                  </a:txBody>
                  <a:tcPr marL="101600" marR="101600" marT="50800" marB="50800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Zu hoher Aufwand</a:t>
                      </a:r>
                    </a:p>
                  </a:txBody>
                  <a:tcPr marL="101600" marR="101600" marT="50800" marB="50800">
                    <a:solidFill>
                      <a:srgbClr val="2A2A44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88720" y="438912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9"/>
              </a:spcAft>
              <a:defRPr sz="1400" b="0">
                <a:solidFill>
                  <a:srgbClr val="4EC96B"/>
                </a:solidFill>
                <a:latin typeface="Segoe UI"/>
              </a:defRPr>
            </a:pPr>
            <a:r>
              <a:t>✅ Minimaler Boilerplate</a:t>
            </a:r>
          </a:p>
          <a:p>
            <a:pPr>
              <a:spcAft>
                <a:spcPts val="559"/>
              </a:spcAft>
              <a:defRPr sz="1400" b="0">
                <a:solidFill>
                  <a:srgbClr val="4EC96B"/>
                </a:solidFill>
                <a:latin typeface="Segoe UI"/>
              </a:defRPr>
            </a:pPr>
            <a:r>
              <a:t>✅ Open Source &amp; einsteigerfreundlich</a:t>
            </a:r>
          </a:p>
          <a:p>
            <a:pPr>
              <a:spcAft>
                <a:spcPts val="559"/>
              </a:spcAft>
              <a:defRPr sz="1400" b="0">
                <a:solidFill>
                  <a:srgbClr val="E86B6B"/>
                </a:solidFill>
                <a:latin typeface="Segoe UI"/>
              </a:defRPr>
            </a:pPr>
            <a:r>
              <a:t>❌ Keine native Desktop-UI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63040"/>
            <a:ext cx="4846320" cy="411480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93D"/>
                </a:solidFill>
                <a:latin typeface="Segoe UI"/>
              </a:defRPr>
            </a:pPr>
            <a:r>
              <a:t>ADR 0003 – JSON für Presets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031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  <a:latin typeface="Segoe UI"/>
              </a:defRPr>
            </a:pPr>
            <a:r>
              <a:t>Optionen: JSON · XML · Binär · YAML · TOML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74320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Entscheidung: JSON</a:t>
            </a:r>
          </a:p>
          <a:p>
            <a:pPr>
              <a:spcAft>
                <a:spcPts val="480"/>
              </a:spcAft>
              <a:defRPr sz="1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20"/>
              </a:spcAft>
              <a:defRPr sz="1400" b="0">
                <a:solidFill>
                  <a:srgbClr val="4EC96B"/>
                </a:solidFill>
                <a:latin typeface="Segoe UI"/>
              </a:defRPr>
            </a:pPr>
            <a:r>
              <a:t>✅ Menschenlesbar &amp; editierbar</a:t>
            </a:r>
          </a:p>
          <a:p>
            <a:pPr>
              <a:spcAft>
                <a:spcPts val="420"/>
              </a:spcAft>
              <a:defRPr sz="1400" b="0">
                <a:solidFill>
                  <a:srgbClr val="4EC96B"/>
                </a:solidFill>
                <a:latin typeface="Segoe UI"/>
              </a:defRPr>
            </a:pPr>
            <a:r>
              <a:t>✅ Breite C++-Unterstützung</a:t>
            </a:r>
          </a:p>
          <a:p>
            <a:pPr>
              <a:spcAft>
                <a:spcPts val="420"/>
              </a:spcAft>
              <a:defRPr sz="1400" b="0">
                <a:solidFill>
                  <a:srgbClr val="4EC96B"/>
                </a:solidFill>
                <a:latin typeface="Segoe UI"/>
              </a:defRPr>
            </a:pPr>
            <a:r>
              <a:t>✅ Einfaches Debugging</a:t>
            </a:r>
          </a:p>
          <a:p>
            <a:pPr>
              <a:spcAft>
                <a:spcPts val="480"/>
              </a:spcAft>
              <a:defRPr sz="1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20"/>
              </a:spcAft>
              <a:defRPr sz="1400" b="0">
                <a:solidFill>
                  <a:srgbClr val="E86B6B"/>
                </a:solidFill>
                <a:latin typeface="Segoe UI"/>
              </a:defRPr>
            </a:pPr>
            <a:r>
              <a:t>❌ Größer als Binärformat</a:t>
            </a:r>
          </a:p>
          <a:p>
            <a:pPr>
              <a:spcAft>
                <a:spcPts val="420"/>
              </a:spcAft>
              <a:defRPr sz="1400" b="0">
                <a:solidFill>
                  <a:srgbClr val="E86B6B"/>
                </a:solidFill>
                <a:latin typeface="Segoe UI"/>
              </a:defRPr>
            </a:pPr>
            <a:r>
              <a:t>❌ Schwächere Typisierung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0" b="1">
                <a:solidFill>
                  <a:srgbClr val="4EC96B"/>
                </a:solidFill>
                <a:latin typeface="Segoe UI Light"/>
              </a:defRPr>
            </a:pPr>
            <a: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2560320"/>
            <a:ext cx="5486400" cy="50800"/>
          </a:xfrm>
          <a:prstGeom prst="rect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Designprinzipien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22815" y="320040"/>
            <a:ext cx="2011680" cy="411480"/>
          </a:xfrm>
          <a:prstGeom prst="roundRect">
            <a:avLst/>
          </a:prstGeom>
          <a:solidFill>
            <a:srgbClr val="2D8A4E"/>
          </a:solidFill>
          <a:ln w="12700">
            <a:solidFill>
              <a:srgbClr val="4E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🎤 Hilda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22815" y="320040"/>
            <a:ext cx="2011680" cy="411480"/>
          </a:xfrm>
          <a:prstGeom prst="roundRect">
            <a:avLst/>
          </a:prstGeom>
          <a:solidFill>
            <a:srgbClr val="2D8A4E"/>
          </a:solidFill>
          <a:ln w="12700">
            <a:solidFill>
              <a:srgbClr val="4E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🎤 Hilda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Composition over Inheritance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4114800" cy="50800"/>
          </a:xfrm>
          <a:prstGeom prst="rect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828800"/>
            <a:ext cx="2011680" cy="731520"/>
          </a:xfrm>
          <a:prstGeom prst="roundRect">
            <a:avLst/>
          </a:prstGeom>
          <a:solidFill>
            <a:srgbClr val="2D8A4E"/>
          </a:solidFill>
          <a:ln w="25400">
            <a:solidFill>
              <a:srgbClr val="4E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FrogApp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965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EC96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828800"/>
            <a:ext cx="2286000" cy="73152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6BB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19202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FrogSettingsUI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965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EC96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828800"/>
            <a:ext cx="2011680" cy="73152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6BB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9202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Soundscape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1965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EC96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1828800"/>
            <a:ext cx="1645920" cy="73152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19202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Sound[]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EC96B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3108960"/>
            <a:ext cx="2011680" cy="73152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7EE8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32004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Frog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EC96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3108960"/>
            <a:ext cx="1645920" cy="73152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9999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0" y="32004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Position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3108960"/>
            <a:ext cx="1645920" cy="73152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9999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32004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Resource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4389120"/>
            <a:ext cx="9326880" cy="731520"/>
          </a:xfrm>
          <a:prstGeom prst="roundRect">
            <a:avLst/>
          </a:prstGeom>
          <a:solidFill>
            <a:srgbClr val="2D8A4E"/>
          </a:solidFill>
          <a:ln w="25400">
            <a:solidFill>
              <a:srgbClr val="4E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4480560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ResourceManager  –  Texturen · Sounds · Animationen (Lazy Loading)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486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4EC96B"/>
                </a:solidFill>
                <a:latin typeface="Segoe UI"/>
              </a:defRPr>
            </a:pPr>
            <a:r>
              <a:t>✅ Klare, einfache Lebenszeiten der Objekte</a:t>
            </a:r>
          </a:p>
          <a:p>
            <a:pPr>
              <a:spcAft>
                <a:spcPts val="800"/>
              </a:spcAft>
              <a:defRPr sz="1600" b="0">
                <a:solidFill>
                  <a:srgbClr val="4EC96B"/>
                </a:solidFill>
                <a:latin typeface="Segoe UI"/>
              </a:defRPr>
            </a:pPr>
            <a:r>
              <a:t>✅ Flexible Kombination von Komponenten      ✅ Leichter testbar und erweiterbar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22815" y="320040"/>
            <a:ext cx="2011680" cy="411480"/>
          </a:xfrm>
          <a:prstGeom prst="roundRect">
            <a:avLst/>
          </a:prstGeom>
          <a:solidFill>
            <a:srgbClr val="2D8A4E"/>
          </a:solidFill>
          <a:ln w="12700">
            <a:solidFill>
              <a:srgbClr val="4E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🎤 Hilda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Single Responsibility &amp; Modularität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4572000" cy="50800"/>
          </a:xfrm>
          <a:prstGeom prst="rect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554480"/>
          <a:ext cx="6400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4160520"/>
              </a:tblGrid>
              <a:tr h="4572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Klasse</a:t>
                      </a:r>
                    </a:p>
                  </a:txBody>
                  <a:tcPr marL="101600" marR="101600" marT="50800" marB="50800">
                    <a:solidFill>
                      <a:srgbClr val="2D8A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Verantwortung</a:t>
                      </a:r>
                    </a:p>
                  </a:txBody>
                  <a:tcPr marL="101600" marR="101600" marT="50800" marB="50800">
                    <a:solidFill>
                      <a:srgbClr val="2D8A4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FrogApp</a:t>
                      </a:r>
                    </a:p>
                  </a:txBody>
                  <a:tcPr marL="101600" marR="101600" marT="50800" marB="5080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Fenster-Management, Render-Loop</a:t>
                      </a:r>
                    </a:p>
                  </a:txBody>
                  <a:tcPr marL="101600" marR="101600" marT="50800" marB="50800"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Frog</a:t>
                      </a:r>
                    </a:p>
                  </a:txBody>
                  <a:tcPr marL="101600" marR="101600" marT="50800" marB="50800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Frosch-Entität (Position, Animation)</a:t>
                      </a:r>
                    </a:p>
                  </a:txBody>
                  <a:tcPr marL="101600" marR="101600" marT="50800" marB="50800">
                    <a:solidFill>
                      <a:srgbClr val="2A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Soundscape</a:t>
                      </a:r>
                    </a:p>
                  </a:txBody>
                  <a:tcPr marL="101600" marR="101600" marT="50800" marB="5080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Audio-Mischung &amp; Steuerung</a:t>
                      </a:r>
                    </a:p>
                  </a:txBody>
                  <a:tcPr marL="101600" marR="101600" marT="50800" marB="50800"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Sound</a:t>
                      </a:r>
                    </a:p>
                  </a:txBody>
                  <a:tcPr marL="101600" marR="101600" marT="50800" marB="50800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Ein einzelner Audioclip</a:t>
                      </a:r>
                    </a:p>
                  </a:txBody>
                  <a:tcPr marL="101600" marR="101600" marT="50800" marB="50800">
                    <a:solidFill>
                      <a:srgbClr val="2A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ResourceManager</a:t>
                      </a:r>
                    </a:p>
                  </a:txBody>
                  <a:tcPr marL="101600" marR="101600" marT="50800" marB="5080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Laden &amp; Cachen aller Assets</a:t>
                      </a:r>
                    </a:p>
                  </a:txBody>
                  <a:tcPr marL="101600" marR="101600" marT="50800" marB="50800"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FrogSettingsUI</a:t>
                      </a:r>
                    </a:p>
                  </a:txBody>
                  <a:tcPr marL="101600" marR="101600" marT="50800" marB="50800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Benutzeroberfläche (Slider, Profile)</a:t>
                      </a:r>
                    </a:p>
                  </a:txBody>
                  <a:tcPr marL="101600" marR="101600" marT="50800" marB="50800">
                    <a:solidFill>
                      <a:srgbClr val="2A2A44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0" y="1554480"/>
            <a:ext cx="3657600" cy="274320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7EE8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EE87E"/>
                </a:solidFill>
                <a:latin typeface="Segoe UI"/>
              </a:defRPr>
            </a:pPr>
            <a:r>
              <a:t>📁  Asset-Struktur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19456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 b="1">
                <a:solidFill>
                  <a:srgbClr val="FFFFFF"/>
                </a:solidFill>
                <a:latin typeface="Consolas"/>
              </a:defRPr>
            </a:pPr>
            <a:r>
              <a:t>assets/</a:t>
            </a:r>
          </a:p>
          <a:p>
            <a:pPr>
              <a:spcAft>
                <a:spcPts val="450"/>
              </a:spcAft>
              <a:defRPr sz="1500" b="0">
                <a:solidFill>
                  <a:srgbClr val="4EC96B"/>
                </a:solidFill>
                <a:latin typeface="Consolas"/>
              </a:defRPr>
            </a:pPr>
            <a:r>
              <a:t>  ├── textures/</a:t>
            </a:r>
          </a:p>
          <a:p>
            <a:pPr>
              <a:spcAft>
                <a:spcPts val="450"/>
              </a:spcAft>
              <a:defRPr sz="1500" b="0">
                <a:solidFill>
                  <a:srgbClr val="4EC96B"/>
                </a:solidFill>
                <a:latin typeface="Consolas"/>
              </a:defRPr>
            </a:pPr>
            <a:r>
              <a:t>  ├── sounds/</a:t>
            </a:r>
          </a:p>
          <a:p>
            <a:pPr>
              <a:spcAft>
                <a:spcPts val="450"/>
              </a:spcAft>
              <a:defRPr sz="1500" b="0">
                <a:solidFill>
                  <a:srgbClr val="4EC96B"/>
                </a:solidFill>
                <a:latin typeface="Consolas"/>
              </a:defRPr>
            </a:pPr>
            <a:r>
              <a:t>  └── animation/</a:t>
            </a:r>
          </a:p>
          <a:p>
            <a:pPr>
              <a:spcAft>
                <a:spcPts val="45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420"/>
              </a:spcAft>
              <a:defRPr sz="1400" b="0">
                <a:solidFill>
                  <a:srgbClr val="CCCCCC"/>
                </a:solidFill>
                <a:latin typeface="Consolas"/>
              </a:defRPr>
            </a:pPr>
            <a:r>
              <a:t>Neue Ressource =</a:t>
            </a:r>
          </a:p>
          <a:p>
            <a:pPr>
              <a:spcAft>
                <a:spcPts val="420"/>
              </a:spcAft>
              <a:defRPr sz="1400" b="1">
                <a:solidFill>
                  <a:srgbClr val="4EC96B"/>
                </a:solidFill>
                <a:latin typeface="Consolas"/>
              </a:defRPr>
            </a:pPr>
            <a:r>
              <a:t>eine Datei hinzufügen 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AA"/>
                </a:solidFill>
                <a:latin typeface="Segoe UI"/>
              </a:defRPr>
            </a:pPr>
            <a:r>
              <a:t>→ Siehe nächste Folie: Klassendiagramm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22815" y="320040"/>
            <a:ext cx="2011680" cy="411480"/>
          </a:xfrm>
          <a:prstGeom prst="roundRect">
            <a:avLst/>
          </a:prstGeom>
          <a:solidFill>
            <a:srgbClr val="2D8A4E"/>
          </a:solidFill>
          <a:ln w="12700">
            <a:solidFill>
              <a:srgbClr val="4E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🎤 Hilda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Klassendiagramm</a:t>
            </a:r>
          </a:p>
        </p:txBody>
      </p:sp>
      <p:pic>
        <p:nvPicPr>
          <p:cNvPr id="5" name="Picture 4" descr="Class_Frog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097280"/>
            <a:ext cx="2749449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0" b="1">
                <a:solidFill>
                  <a:srgbClr val="4EC96B"/>
                </a:solidFill>
                <a:latin typeface="Segoe UI Light"/>
              </a:defRPr>
            </a:pPr>
            <a: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2560320"/>
            <a:ext cx="5486400" cy="50800"/>
          </a:xfrm>
          <a:prstGeom prst="rect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Tech-Stack &amp; Plattformen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22815" y="320040"/>
            <a:ext cx="2011680" cy="411480"/>
          </a:xfrm>
          <a:prstGeom prst="roundRect">
            <a:avLst/>
          </a:prstGeom>
          <a:solidFill>
            <a:srgbClr val="2D8A4E"/>
          </a:solidFill>
          <a:ln w="12700">
            <a:solidFill>
              <a:srgbClr val="4E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🎤 Luca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22815" y="320040"/>
            <a:ext cx="2011680" cy="411480"/>
          </a:xfrm>
          <a:prstGeom prst="roundRect">
            <a:avLst/>
          </a:prstGeom>
          <a:solidFill>
            <a:srgbClr val="2D8A4E"/>
          </a:solidFill>
          <a:ln w="12700">
            <a:solidFill>
              <a:srgbClr val="4E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🎤 Luca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Kerntechnologien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2743200" cy="50800"/>
          </a:xfrm>
          <a:prstGeom prst="rect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55448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12"/>
                <a:gridCol w="2816352"/>
                <a:gridCol w="1609344"/>
                <a:gridCol w="3822192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Schicht</a:t>
                      </a:r>
                    </a:p>
                  </a:txBody>
                  <a:tcPr marL="101600" marR="101600" marT="50800" marB="50800">
                    <a:solidFill>
                      <a:srgbClr val="2D8A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Technologie</a:t>
                      </a:r>
                    </a:p>
                  </a:txBody>
                  <a:tcPr marL="101600" marR="101600" marT="50800" marB="50800">
                    <a:solidFill>
                      <a:srgbClr val="2D8A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Version</a:t>
                      </a:r>
                    </a:p>
                  </a:txBody>
                  <a:tcPr marL="101600" marR="101600" marT="50800" marB="50800">
                    <a:solidFill>
                      <a:srgbClr val="2D8A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Zweck</a:t>
                      </a:r>
                    </a:p>
                  </a:txBody>
                  <a:tcPr marL="101600" marR="101600" marT="50800" marB="50800">
                    <a:solidFill>
                      <a:srgbClr val="2D8A4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Sprache</a:t>
                      </a:r>
                    </a:p>
                  </a:txBody>
                  <a:tcPr marL="101600" marR="101600" marT="50800" marB="5080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C++</a:t>
                      </a:r>
                    </a:p>
                  </a:txBody>
                  <a:tcPr marL="101600" marR="101600" marT="50800" marB="5080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C++23</a:t>
                      </a:r>
                    </a:p>
                  </a:txBody>
                  <a:tcPr marL="101600" marR="101600" marT="50800" marB="5080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Hauptprogrammiersprache</a:t>
                      </a:r>
                    </a:p>
                  </a:txBody>
                  <a:tcPr marL="101600" marR="101600" marT="50800" marB="50800"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Audio &amp; Grafik</a:t>
                      </a:r>
                    </a:p>
                  </a:txBody>
                  <a:tcPr marL="101600" marR="101600" marT="50800" marB="50800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SFML</a:t>
                      </a:r>
                    </a:p>
                  </a:txBody>
                  <a:tcPr marL="101600" marR="101600" marT="50800" marB="50800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3.0.1</a:t>
                      </a:r>
                    </a:p>
                  </a:txBody>
                  <a:tcPr marL="101600" marR="101600" marT="50800" marB="50800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Multimedia-Framework</a:t>
                      </a:r>
                    </a:p>
                  </a:txBody>
                  <a:tcPr marL="101600" marR="101600" marT="50800" marB="50800">
                    <a:solidFill>
                      <a:srgbClr val="2A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GUI</a:t>
                      </a:r>
                    </a:p>
                  </a:txBody>
                  <a:tcPr marL="101600" marR="101600" marT="50800" marB="5080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Dear ImGui + ImGui-SFML</a:t>
                      </a:r>
                    </a:p>
                  </a:txBody>
                  <a:tcPr marL="101600" marR="101600" marT="50800" marB="5080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v1.91.1 / v3.0</a:t>
                      </a:r>
                    </a:p>
                  </a:txBody>
                  <a:tcPr marL="101600" marR="101600" marT="50800" marB="5080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Immediate-Mode GUI</a:t>
                      </a:r>
                    </a:p>
                  </a:txBody>
                  <a:tcPr marL="101600" marR="101600" marT="50800" marB="50800"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Formatierung</a:t>
                      </a:r>
                    </a:p>
                  </a:txBody>
                  <a:tcPr marL="101600" marR="101600" marT="50800" marB="50800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fmtlib</a:t>
                      </a:r>
                    </a:p>
                  </a:txBody>
                  <a:tcPr marL="101600" marR="101600" marT="50800" marB="50800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11.1.4</a:t>
                      </a:r>
                    </a:p>
                  </a:txBody>
                  <a:tcPr marL="101600" marR="101600" marT="50800" marB="50800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Typ-sichere Strings</a:t>
                      </a:r>
                    </a:p>
                  </a:txBody>
                  <a:tcPr marL="101600" marR="101600" marT="50800" marB="50800">
                    <a:solidFill>
                      <a:srgbClr val="2A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Build-System</a:t>
                      </a:r>
                    </a:p>
                  </a:txBody>
                  <a:tcPr marL="101600" marR="101600" marT="50800" marB="5080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CMake + Ninja</a:t>
                      </a:r>
                    </a:p>
                  </a:txBody>
                  <a:tcPr marL="101600" marR="101600" marT="50800" marB="5080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3.21+</a:t>
                      </a:r>
                    </a:p>
                  </a:txBody>
                  <a:tcPr marL="101600" marR="101600" marT="50800" marB="5080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Cross-Platform Builds</a:t>
                      </a:r>
                    </a:p>
                  </a:txBody>
                  <a:tcPr marL="101600" marR="101600" marT="50800" marB="50800"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Testing</a:t>
                      </a:r>
                    </a:p>
                  </a:txBody>
                  <a:tcPr marL="101600" marR="101600" marT="50800" marB="50800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Catch2</a:t>
                      </a:r>
                    </a:p>
                  </a:txBody>
                  <a:tcPr marL="101600" marR="101600" marT="50800" marB="50800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3.8.1</a:t>
                      </a:r>
                    </a:p>
                  </a:txBody>
                  <a:tcPr marL="101600" marR="101600" marT="50800" marB="50800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Unit-Test-Framework</a:t>
                      </a:r>
                    </a:p>
                  </a:txBody>
                  <a:tcPr marL="101600" marR="101600" marT="50800" marB="50800">
                    <a:solidFill>
                      <a:srgbClr val="2A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Paket-Mgmt</a:t>
                      </a:r>
                    </a:p>
                  </a:txBody>
                  <a:tcPr marL="101600" marR="101600" marT="50800" marB="5080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CPM + FetchContent</a:t>
                      </a:r>
                    </a:p>
                  </a:txBody>
                  <a:tcPr marL="101600" marR="101600" marT="50800" marB="5080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marL="101600" marR="101600" marT="50800" marB="5080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Dependency-Auflösung</a:t>
                      </a:r>
                    </a:p>
                  </a:txBody>
                  <a:tcPr marL="101600" marR="101600" marT="50800" marB="50800"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5212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Zielplattformen: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669280"/>
            <a:ext cx="3017520" cy="73152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4E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7150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🪟  Windows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9893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Segoe UI"/>
              </a:defRPr>
            </a:pPr>
            <a:r>
              <a:t>MSVC (VS 2022)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5669280"/>
            <a:ext cx="3017520" cy="73152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4E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57150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🐧  Linux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9893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Segoe UI"/>
              </a:defRPr>
            </a:pPr>
            <a:r>
              <a:t>GCC 14 / Clang 19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5669280"/>
            <a:ext cx="3017520" cy="73152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4E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57150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🍎  macOS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59893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Segoe UI"/>
              </a:defRPr>
            </a:pPr>
            <a:r>
              <a:t>Apple Clang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22815" y="320040"/>
            <a:ext cx="2011680" cy="411480"/>
          </a:xfrm>
          <a:prstGeom prst="roundRect">
            <a:avLst/>
          </a:prstGeom>
          <a:solidFill>
            <a:srgbClr val="2D8A4E"/>
          </a:solidFill>
          <a:ln w="12700">
            <a:solidFill>
              <a:srgbClr val="4E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🎤 Luca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CI/CD-Pipeline &amp; Qualitätssicherung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4572000" cy="50800"/>
          </a:xfrm>
          <a:prstGeom prst="rect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2011680" cy="109728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4E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C96B"/>
                </a:solidFill>
                <a:latin typeface="Segoe UI"/>
              </a:defRPr>
            </a:pPr>
            <a:r>
              <a:t>Pull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AA"/>
                </a:solidFill>
                <a:latin typeface="Segoe UI"/>
              </a:defRPr>
            </a:pPr>
            <a:r>
              <a:t>/ Push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645920"/>
            <a:ext cx="2011680" cy="109728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6BB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B3E8"/>
                </a:solidFill>
                <a:latin typeface="Segoe UI"/>
              </a:defRPr>
            </a:pPr>
            <a:r>
              <a:t>clang-format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148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AA"/>
                </a:solidFill>
                <a:latin typeface="Segoe UI"/>
              </a:defRPr>
            </a:pPr>
            <a:r>
              <a:t>Auto-Fix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645920"/>
            <a:ext cx="2011680" cy="109728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42"/>
                </a:solidFill>
                <a:latin typeface="Segoe UI"/>
              </a:defRPr>
            </a:pPr>
            <a:r>
              <a:t>CI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148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AA"/>
                </a:solidFill>
                <a:latin typeface="Segoe UI"/>
              </a:defRPr>
            </a:pPr>
            <a:r>
              <a:t>3 OS × 3 Compiler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1645920"/>
            <a:ext cx="2011680" cy="109728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93D"/>
                </a:solidFill>
                <a:latin typeface="Segoe UI"/>
              </a:defRPr>
            </a:pPr>
            <a:r>
              <a:t>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148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AA"/>
                </a:solidFill>
                <a:latin typeface="Segoe UI"/>
              </a:defRPr>
            </a:pPr>
            <a:r>
              <a:t>Catch2 + Coverage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1645920"/>
            <a:ext cx="2011680" cy="109728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E8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6B6B"/>
                </a:solidFill>
                <a:latin typeface="Segoe UI"/>
              </a:defRPr>
            </a:pPr>
            <a:r>
              <a:t>CodeQL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2148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AA"/>
                </a:solidFill>
                <a:latin typeface="Segoe UI"/>
              </a:defRPr>
            </a:pPr>
            <a:r>
              <a:t>Security Scan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19202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EC96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19202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EC96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19202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EC96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19202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EC96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200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Qualitäts-Tools: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3749039"/>
            <a:ext cx="2468880" cy="8229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379475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EC96B"/>
                </a:solidFill>
                <a:latin typeface="Segoe UI"/>
              </a:defRPr>
            </a:pPr>
            <a:r>
              <a:t>AddressSanitizer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16051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Segoe UI"/>
              </a:defRPr>
            </a:pPr>
            <a:r>
              <a:t>Speicherfehler erkennen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0" y="3749039"/>
            <a:ext cx="2468880" cy="8229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0" y="379475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EC96B"/>
                </a:solidFill>
                <a:latin typeface="Segoe UI"/>
              </a:defRPr>
            </a:pPr>
            <a:r>
              <a:t>UBSan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416051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Segoe UI"/>
              </a:defRPr>
            </a:pPr>
            <a:r>
              <a:t>Undefined Behavior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749039"/>
            <a:ext cx="2468880" cy="8229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379475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EC96B"/>
                </a:solidFill>
                <a:latin typeface="Segoe UI"/>
              </a:defRPr>
            </a:pPr>
            <a:r>
              <a:t>cppcheck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16051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Segoe UI"/>
              </a:defRPr>
            </a:pPr>
            <a:r>
              <a:t>Statische Analyse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3749039"/>
            <a:ext cx="2468880" cy="8229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0" y="379475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EC96B"/>
                </a:solidFill>
                <a:latin typeface="Segoe UI"/>
              </a:defRPr>
            </a:pPr>
            <a:r>
              <a:t>clang-tidy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416051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Segoe UI"/>
              </a:defRPr>
            </a:pPr>
            <a:r>
              <a:t>Lint &amp; Best Practices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4754879"/>
            <a:ext cx="2468880" cy="8229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480059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EC96B"/>
                </a:solidFill>
                <a:latin typeface="Segoe UI"/>
              </a:defRPr>
            </a:pPr>
            <a:r>
              <a:t>libFuzzer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516635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Segoe UI"/>
              </a:defRPr>
            </a:pPr>
            <a:r>
              <a:t>Fuzz-Testing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57600" y="4754879"/>
            <a:ext cx="2468880" cy="8229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40480" y="480059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EC96B"/>
                </a:solidFill>
                <a:latin typeface="Segoe UI"/>
              </a:defRPr>
            </a:pPr>
            <a:r>
              <a:t>gcovr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0" y="516635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Segoe UI"/>
              </a:defRPr>
            </a:pPr>
            <a:r>
              <a:t>Code-Coverage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4754879"/>
            <a:ext cx="2468880" cy="8229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480059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EC96B"/>
                </a:solidFill>
                <a:latin typeface="Segoe UI"/>
              </a:defRPr>
            </a:pPr>
            <a:r>
              <a:t>Dependabot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516635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Segoe UI"/>
              </a:defRPr>
            </a:pPr>
            <a:r>
              <a:t>Dependency-Updates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44000" y="4754879"/>
            <a:ext cx="2468880" cy="8229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0" y="480059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EC96B"/>
                </a:solidFill>
                <a:latin typeface="Segoe UI"/>
              </a:defRPr>
            </a:pPr>
            <a:r>
              <a:t>CPack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516635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Segoe UI"/>
              </a:defRPr>
            </a:pPr>
            <a:r>
              <a:t>Release-Packaging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0" b="1">
                <a:solidFill>
                  <a:srgbClr val="4EC96B"/>
                </a:solidFill>
                <a:latin typeface="Segoe UI Light"/>
              </a:defRPr>
            </a:pPr>
            <a: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2560320"/>
            <a:ext cx="5486400" cy="50800"/>
          </a:xfrm>
          <a:prstGeom prst="rect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Live-Demo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CCCCC"/>
                </a:solidFill>
                <a:latin typeface="Segoe UI"/>
              </a:defRPr>
            </a:pPr>
            <a:r>
              <a:t>Aktueller Entwicklungsstand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22815" y="320040"/>
            <a:ext cx="2011680" cy="411480"/>
          </a:xfrm>
          <a:prstGeom prst="roundRect">
            <a:avLst/>
          </a:prstGeom>
          <a:solidFill>
            <a:srgbClr val="2D8A4E"/>
          </a:solidFill>
          <a:ln w="12700">
            <a:solidFill>
              <a:srgbClr val="4E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🎤 Luca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22815" y="320040"/>
            <a:ext cx="2011680" cy="411480"/>
          </a:xfrm>
          <a:prstGeom prst="roundRect">
            <a:avLst/>
          </a:prstGeom>
          <a:solidFill>
            <a:srgbClr val="2D8A4E"/>
          </a:solidFill>
          <a:ln w="12700">
            <a:solidFill>
              <a:srgbClr val="4E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🎤 Luca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Aktueller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2286000" cy="50800"/>
          </a:xfrm>
          <a:prstGeom prst="rect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EC96B"/>
                </a:solidFill>
                <a:latin typeface="Segoe UI"/>
              </a:defRPr>
            </a:pPr>
            <a:r>
              <a:t>✅  Settings-UI mit ImGui (Slider für Lautstärke &amp; Frequenz)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EC96B"/>
                </a:solidFill>
                <a:latin typeface="Segoe UI"/>
              </a:defRPr>
            </a:pPr>
            <a:r>
              <a:t>✅  Transparentes Frosch-Fenster auf dem Desktop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EC96B"/>
                </a:solidFill>
                <a:latin typeface="Segoe UI"/>
              </a:defRPr>
            </a:pPr>
            <a:r>
              <a:t>✅  ResourceManager für Texturen (Lazy Loading &amp; Caching)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37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EC96B"/>
                </a:solidFill>
                <a:latin typeface="Segoe UI"/>
              </a:defRPr>
            </a:pPr>
            <a:r>
              <a:t>✅  Custom Window-Frame (Drag &amp; Drop, Minimize, Close)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EC96B"/>
                </a:solidFill>
                <a:latin typeface="Segoe UI"/>
              </a:defRPr>
            </a:pPr>
            <a:r>
              <a:t>✅  Cross-Platform-Builds (Windows, Linux, macOS)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526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EC96B"/>
                </a:solidFill>
                <a:latin typeface="Segoe UI"/>
              </a:defRPr>
            </a:pPr>
            <a:r>
              <a:t>✅  CI/CD-Pipeline mit 72+ Build-Konfigurationen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120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D93D"/>
                </a:solidFill>
                <a:latin typeface="Segoe UI"/>
              </a:defRPr>
            </a:pPr>
            <a:r>
              <a:t>🔄  Audio-Playback &amp; Sound-Mixer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715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D93D"/>
                </a:solidFill>
                <a:latin typeface="Segoe UI"/>
              </a:defRPr>
            </a:pPr>
            <a:r>
              <a:t>🔄  Frosch-Animationen (Jump, Idle)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309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D93D"/>
                </a:solidFill>
                <a:latin typeface="Segoe UI"/>
              </a:defRPr>
            </a:pPr>
            <a:r>
              <a:t>🔄  Preset-System (JSON-basiert)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5760720"/>
            <a:ext cx="5486400" cy="731520"/>
          </a:xfrm>
          <a:prstGeom prst="roundRect">
            <a:avLst/>
          </a:prstGeom>
          <a:solidFill>
            <a:srgbClr val="2D8A4E"/>
          </a:solidFill>
          <a:ln w="25400">
            <a:solidFill>
              <a:srgbClr val="4E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→  Live-Vorführung der Anwendung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0" b="1">
                <a:solidFill>
                  <a:srgbClr val="4EC96B"/>
                </a:solidFill>
                <a:latin typeface="Segoe UI Light"/>
              </a:defRPr>
            </a:pPr>
            <a: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2560320"/>
            <a:ext cx="5486400" cy="50800"/>
          </a:xfrm>
          <a:prstGeom prst="rect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Projektmanagement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CCCCC"/>
                </a:solidFill>
                <a:latin typeface="Segoe UI"/>
              </a:defRPr>
            </a:pPr>
            <a:r>
              <a:t>Fakten &amp; Erkenntnisse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22815" y="320040"/>
            <a:ext cx="2011680" cy="411480"/>
          </a:xfrm>
          <a:prstGeom prst="roundRect">
            <a:avLst/>
          </a:prstGeom>
          <a:solidFill>
            <a:srgbClr val="2D8A4E"/>
          </a:solidFill>
          <a:ln w="12700">
            <a:solidFill>
              <a:srgbClr val="4E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🎤 Moritz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22815" y="320040"/>
            <a:ext cx="2011680" cy="411480"/>
          </a:xfrm>
          <a:prstGeom prst="roundRect">
            <a:avLst/>
          </a:prstGeom>
          <a:solidFill>
            <a:srgbClr val="2D8A4E"/>
          </a:solidFill>
          <a:ln w="12700">
            <a:solidFill>
              <a:srgbClr val="4E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🎤 Moritz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Scrum-Setup &amp;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2743200" cy="50800"/>
          </a:xfrm>
          <a:prstGeom prst="rect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4572000" cy="274320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6BB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645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BB3E8"/>
                </a:solidFill>
                <a:latin typeface="Segoe UI"/>
              </a:defRPr>
            </a:pPr>
            <a:r>
              <a:t>⚡ Agiles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  <a:latin typeface="Segoe UI"/>
              </a:defRPr>
            </a:pPr>
            <a:r>
              <a:t>Methodik: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Scrum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5786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  <a:latin typeface="Segoe UI"/>
              </a:defRPr>
            </a:pPr>
            <a:r>
              <a:t>Sprint-Länge: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78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 Woche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6265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  <a:latin typeface="Segoe UI"/>
              </a:defRPr>
            </a:pPr>
            <a:r>
              <a:t>Rituale: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96265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Planning, Weeklies, Reviews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34670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  <a:latin typeface="Segoe UI"/>
              </a:defRPr>
            </a:pPr>
            <a:r>
              <a:t>Tool: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34670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GitHub Projects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7307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  <a:latin typeface="Segoe UI"/>
              </a:defRPr>
            </a:pPr>
            <a:r>
              <a:t>Blog: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7307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GitHub Discussions (8 Posts)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943600" y="155448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71600"/>
                <a:gridCol w="301752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Mitglied</a:t>
                      </a:r>
                    </a:p>
                  </a:txBody>
                  <a:tcPr marL="101600" marR="101600" marT="50800" marB="50800">
                    <a:solidFill>
                      <a:srgbClr val="2D8A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Rolle</a:t>
                      </a:r>
                    </a:p>
                  </a:txBody>
                  <a:tcPr marL="101600" marR="101600" marT="50800" marB="50800">
                    <a:solidFill>
                      <a:srgbClr val="2D8A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Schwerpunkte</a:t>
                      </a:r>
                    </a:p>
                  </a:txBody>
                  <a:tcPr marL="101600" marR="101600" marT="50800" marB="50800">
                    <a:solidFill>
                      <a:srgbClr val="2D8A4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Moritz</a:t>
                      </a:r>
                    </a:p>
                  </a:txBody>
                  <a:tcPr marL="101600" marR="101600" marT="50800" marB="5080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Orga &amp; Komm.</a:t>
                      </a:r>
                    </a:p>
                  </a:txBody>
                  <a:tcPr marL="101600" marR="101600" marT="50800" marB="5080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Sprints, Issues, Architektur-Docs</a:t>
                      </a:r>
                    </a:p>
                  </a:txBody>
                  <a:tcPr marL="101600" marR="101600" marT="50800" marB="50800"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Luca</a:t>
                      </a:r>
                    </a:p>
                  </a:txBody>
                  <a:tcPr marL="101600" marR="101600" marT="50800" marB="50800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Hauptentwickler</a:t>
                      </a:r>
                    </a:p>
                  </a:txBody>
                  <a:tcPr marL="101600" marR="101600" marT="50800" marB="50800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C++, SFML/ImGui, CI/CD</a:t>
                      </a:r>
                    </a:p>
                  </a:txBody>
                  <a:tcPr marL="101600" marR="101600" marT="50800" marB="50800">
                    <a:solidFill>
                      <a:srgbClr val="2A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Jonas</a:t>
                      </a:r>
                    </a:p>
                  </a:txBody>
                  <a:tcPr marL="101600" marR="101600" marT="50800" marB="5080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Dokumentation</a:t>
                      </a:r>
                    </a:p>
                  </a:txBody>
                  <a:tcPr marL="101600" marR="101600" marT="50800" marB="50800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Blogs, ADRs, Diagramme</a:t>
                      </a:r>
                    </a:p>
                  </a:txBody>
                  <a:tcPr marL="101600" marR="101600" marT="50800" marB="50800"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Hilda</a:t>
                      </a:r>
                    </a:p>
                  </a:txBody>
                  <a:tcPr marL="101600" marR="101600" marT="50800" marB="50800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Design &amp; Recherche</a:t>
                      </a:r>
                    </a:p>
                  </a:txBody>
                  <a:tcPr marL="101600" marR="101600" marT="50800" marB="50800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Sprites, Designs, Klassen</a:t>
                      </a:r>
                    </a:p>
                  </a:txBody>
                  <a:tcPr marL="101600" marR="101600" marT="50800" marB="50800">
                    <a:solidFill>
                      <a:srgbClr val="2A2A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22815" y="320040"/>
            <a:ext cx="2011680" cy="411480"/>
          </a:xfrm>
          <a:prstGeom prst="roundRect">
            <a:avLst/>
          </a:prstGeom>
          <a:solidFill>
            <a:srgbClr val="2D8A4E"/>
          </a:solidFill>
          <a:ln w="12700">
            <a:solidFill>
              <a:srgbClr val="4E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🎤 Moritz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Projektzeitlinie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2743200" cy="50800"/>
          </a:xfrm>
          <a:prstGeom prst="rect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3017520"/>
            <a:ext cx="10332720" cy="50800"/>
          </a:xfrm>
          <a:prstGeom prst="rect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54480" y="2880360"/>
            <a:ext cx="320040" cy="320040"/>
          </a:xfrm>
          <a:prstGeom prst="ellipse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AA"/>
                </a:solidFill>
                <a:latin typeface="Segoe UI"/>
              </a:defRPr>
            </a:pPr>
            <a:r>
              <a:t>Okt '25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474720"/>
            <a:ext cx="2011680" cy="164592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4E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566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Anforderungen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931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&amp; SRS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805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EC96B"/>
                </a:solidFill>
                <a:latin typeface="Segoe UI"/>
              </a:defRPr>
            </a:pPr>
            <a:r>
              <a:t>Sprint 1–2</a:t>
            </a:r>
          </a:p>
        </p:txBody>
      </p:sp>
      <p:sp>
        <p:nvSpPr>
          <p:cNvPr id="13" name="Oval 12"/>
          <p:cNvSpPr/>
          <p:nvPr/>
        </p:nvSpPr>
        <p:spPr>
          <a:xfrm>
            <a:off x="3749040" y="2880360"/>
            <a:ext cx="320040" cy="320040"/>
          </a:xfrm>
          <a:prstGeom prst="ellipse">
            <a:avLst/>
          </a:prstGeom>
          <a:solidFill>
            <a:srgbClr val="6BB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1645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AA"/>
                </a:solidFill>
                <a:latin typeface="Segoe UI"/>
              </a:defRPr>
            </a:pPr>
            <a:r>
              <a:t>Okt–Nov '25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0" y="3474720"/>
            <a:ext cx="2011680" cy="164592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6BB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3566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Planung &amp;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3931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Entwurf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44805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B3E8"/>
                </a:solidFill>
                <a:latin typeface="Segoe UI"/>
              </a:defRPr>
            </a:pPr>
            <a:r>
              <a:t>Sprint 3–4</a:t>
            </a:r>
          </a:p>
        </p:txBody>
      </p:sp>
      <p:sp>
        <p:nvSpPr>
          <p:cNvPr id="19" name="Oval 18"/>
          <p:cNvSpPr/>
          <p:nvPr/>
        </p:nvSpPr>
        <p:spPr>
          <a:xfrm>
            <a:off x="5943600" y="288036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1645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AA"/>
                </a:solidFill>
                <a:latin typeface="Segoe UI"/>
              </a:defRPr>
            </a:pPr>
            <a:r>
              <a:t>Nov '25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0" y="3474720"/>
            <a:ext cx="2011680" cy="164592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40680" y="3566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Implementierung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80" y="3931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&amp; Demo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44805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8C42"/>
                </a:solidFill>
                <a:latin typeface="Segoe UI"/>
              </a:defRPr>
            </a:pPr>
            <a:r>
              <a:t>Sprint 5–6</a:t>
            </a:r>
          </a:p>
        </p:txBody>
      </p:sp>
      <p:sp>
        <p:nvSpPr>
          <p:cNvPr id="25" name="Oval 24"/>
          <p:cNvSpPr/>
          <p:nvPr/>
        </p:nvSpPr>
        <p:spPr>
          <a:xfrm>
            <a:off x="8138159" y="2880360"/>
            <a:ext cx="320040" cy="320040"/>
          </a:xfrm>
          <a:prstGeom prst="ellipse">
            <a:avLst/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79" y="1645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AA"/>
                </a:solidFill>
                <a:latin typeface="Segoe UI"/>
              </a:defRPr>
            </a:pPr>
            <a:r>
              <a:t>Nov–Dez '25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79" y="3474720"/>
            <a:ext cx="2011680" cy="164592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39" y="3566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Implementierung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39" y="3931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&amp; Demo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39" y="44805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93D"/>
                </a:solidFill>
                <a:latin typeface="Segoe UI"/>
              </a:defRPr>
            </a:pPr>
            <a:r>
              <a:t>Sprint 7–8</a:t>
            </a:r>
          </a:p>
        </p:txBody>
      </p:sp>
      <p:sp>
        <p:nvSpPr>
          <p:cNvPr id="31" name="Oval 30"/>
          <p:cNvSpPr/>
          <p:nvPr/>
        </p:nvSpPr>
        <p:spPr>
          <a:xfrm>
            <a:off x="10332720" y="2880360"/>
            <a:ext cx="320040" cy="320040"/>
          </a:xfrm>
          <a:prstGeom prst="ellipse">
            <a:avLst/>
          </a:prstGeom>
          <a:solidFill>
            <a:srgbClr val="7EE8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0" y="1645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AA"/>
                </a:solidFill>
                <a:latin typeface="Segoe UI"/>
              </a:defRPr>
            </a:pPr>
            <a:r>
              <a:t>Dez '25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92640" y="3474720"/>
            <a:ext cx="2011680" cy="164592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7EE8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29800" y="3566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Architektur &amp;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29800" y="3931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Abschluss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9800" y="44805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EE87E"/>
                </a:solidFill>
                <a:latin typeface="Segoe UI"/>
              </a:defRPr>
            </a:pPr>
            <a:r>
              <a:t>Sprint 9–10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22815" y="320040"/>
            <a:ext cx="2011680" cy="411480"/>
          </a:xfrm>
          <a:prstGeom prst="roundRect">
            <a:avLst/>
          </a:prstGeom>
          <a:solidFill>
            <a:srgbClr val="2D8A4E"/>
          </a:solidFill>
          <a:ln w="12700">
            <a:solidFill>
              <a:srgbClr val="4E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🎤 Moritz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Projektzahlen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2286000" cy="50800"/>
          </a:xfrm>
          <a:prstGeom prst="rect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2468880" cy="210312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EC96B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Wochen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AA"/>
                </a:solidFill>
                <a:latin typeface="Segoe UI"/>
              </a:defRPr>
            </a:pPr>
            <a:r>
              <a:t>Projektlaufzeit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554480"/>
            <a:ext cx="2468880" cy="210312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8288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EC96B"/>
                </a:solidFill>
                <a:latin typeface="Segoe UI"/>
              </a:defRPr>
            </a:pPr>
            <a:r>
              <a:t>~175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5603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Stunden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926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AA"/>
                </a:solidFill>
                <a:latin typeface="Segoe UI"/>
              </a:defRPr>
            </a:pPr>
            <a:r>
              <a:t>Gesamtaufwand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554480"/>
            <a:ext cx="2468880" cy="210312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EC96B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603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Commits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26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AA"/>
                </a:solidFill>
                <a:latin typeface="Segoe UI"/>
              </a:defRPr>
            </a:pPr>
            <a:r>
              <a:t>Code-Änderungen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554480"/>
            <a:ext cx="2468880" cy="210312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8288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EC96B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5603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Issues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926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AA"/>
                </a:solidFill>
                <a:latin typeface="Segoe UI"/>
              </a:defRPr>
            </a:pPr>
            <a:r>
              <a:t>Aufgabenverwaltung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023360"/>
            <a:ext cx="2468880" cy="210312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2976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EC96B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029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Blog Posts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394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AA"/>
                </a:solidFill>
                <a:latin typeface="Segoe UI"/>
              </a:defRPr>
            </a:pPr>
            <a:r>
              <a:t>Dokumentation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0" y="4023360"/>
            <a:ext cx="2468880" cy="210312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0" y="42976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EC96B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5029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ADRs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5394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AA"/>
                </a:solidFill>
                <a:latin typeface="Segoe UI"/>
              </a:defRPr>
            </a:pPr>
            <a:r>
              <a:t>Architekturregeln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023360"/>
            <a:ext cx="2468880" cy="210312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2976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EC96B"/>
                </a:solidFill>
                <a:latin typeface="Segoe UI"/>
              </a:defRPr>
            </a:pPr>
            <a:r>
              <a:t>72+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029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CI-Jobs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394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AA"/>
                </a:solidFill>
                <a:latin typeface="Segoe UI"/>
              </a:defRPr>
            </a:pPr>
            <a:r>
              <a:t>Build-Konfigurationen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4023360"/>
            <a:ext cx="2468880" cy="210312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0" y="42976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EC96B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5029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Plattformen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5394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AA"/>
                </a:solidFill>
                <a:latin typeface="Segoe UI"/>
              </a:defRPr>
            </a:pPr>
            <a:r>
              <a:t>Windows, Linux, macOS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22815" y="320040"/>
            <a:ext cx="2011680" cy="411480"/>
          </a:xfrm>
          <a:prstGeom prst="roundRect">
            <a:avLst/>
          </a:prstGeom>
          <a:solidFill>
            <a:srgbClr val="2D8A4E"/>
          </a:solidFill>
          <a:ln w="12700">
            <a:solidFill>
              <a:srgbClr val="4E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🎤 Moritz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Lessons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2286000" cy="50800"/>
          </a:xfrm>
          <a:prstGeom prst="rect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4846320" cy="320040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4E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6459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6B"/>
                </a:solidFill>
                <a:latin typeface="Segoe UI"/>
              </a:defRPr>
            </a:pPr>
            <a:r>
              <a:t>✅  Was gut lief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945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•  Frühe Investition in CI/CD hat sich ausgezahlt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517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•  Cross-Platform von Anfang an → weniger Überraschungen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1089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•  Klare Rollenverteilung im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566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•  Wechsel von YouTrack zu GitHub Projects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0233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•  Composition over Inheritance → sauberer 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554480"/>
            <a:ext cx="4846320" cy="320040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6459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42"/>
                </a:solidFill>
                <a:latin typeface="Segoe UI"/>
              </a:defRPr>
            </a:pPr>
            <a:r>
              <a:t>🔄  Was wir anders machen würden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1945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•  Früher mit Feature-Implementierung beginnen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6517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•  Mehr parallele Arbeit an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1089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•  Audio-Integration früher priorisieren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566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•  Mehr Unit-Tests von Anfang 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Zentrale Erkenntnisse: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577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96B"/>
                </a:solidFill>
                <a:latin typeface="Segoe UI"/>
              </a:defRPr>
            </a:pPr>
            <a:r>
              <a:t>💡 Infrastruktur 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852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Segoe UI"/>
              </a:defRPr>
            </a:pPr>
            <a:r>
              <a:t>CI/CD-Pipeline spart langfristig enorm Zeit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577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96B"/>
                </a:solidFill>
                <a:latin typeface="Segoe UI"/>
              </a:defRPr>
            </a:pPr>
            <a:r>
              <a:t>💡 Dokumentation parallel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852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Segoe UI"/>
              </a:defRPr>
            </a:pPr>
            <a:r>
              <a:t>ADRs und Blog Posts helfen beim Reflektieren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5577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96B"/>
                </a:solidFill>
                <a:latin typeface="Segoe UI"/>
              </a:defRPr>
            </a:pPr>
            <a:r>
              <a:t>💡 Agil bleiben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5852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Segoe UI"/>
              </a:defRPr>
            </a:pPr>
            <a:r>
              <a:t>Wöchentliche Sprints erzwingen regelmäßigen Fortschritt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803136"/>
            <a:ext cx="12191695" cy="54864"/>
          </a:xfrm>
          <a:prstGeom prst="roundRect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45720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5603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Vielen Dank!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474720"/>
            <a:ext cx="3017520" cy="50800"/>
          </a:xfrm>
          <a:prstGeom prst="rect">
            <a:avLst/>
          </a:prstGeom>
          <a:solidFill>
            <a:srgbClr val="4E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4EC96B"/>
                </a:solidFill>
                <a:latin typeface="Segoe UI Light"/>
              </a:defRPr>
            </a:pPr>
            <a:r>
              <a:t>Fragen?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50292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CCCCCC"/>
                </a:solidFill>
                <a:latin typeface="Segoe UI"/>
              </a:defRPr>
            </a:pPr>
            <a:r>
              <a:t>🔗  github.com/RyhoBtw/FrogIT</a:t>
            </a:r>
          </a:p>
          <a:p>
            <a:pPr>
              <a:spcAft>
                <a:spcPts val="800"/>
              </a:spcAft>
              <a:defRPr sz="1600" b="0">
                <a:solidFill>
                  <a:srgbClr val="CCCCCC"/>
                </a:solidFill>
                <a:latin typeface="Segoe UI"/>
              </a:defRPr>
            </a:pPr>
            <a:r>
              <a:t>📖  Blog: GitHub Discussions</a:t>
            </a:r>
          </a:p>
          <a:p>
            <a:pPr>
              <a:spcAft>
                <a:spcPts val="800"/>
              </a:spcAft>
              <a:defRPr sz="1600" b="0">
                <a:solidFill>
                  <a:srgbClr val="CCCCCC"/>
                </a:solidFill>
                <a:latin typeface="Segoe UI"/>
              </a:defRPr>
            </a:pPr>
            <a:r>
              <a:t>📋  Docs: SRS · ADRs · Qualitätsbaum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17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AA"/>
                </a:solidFill>
                <a:latin typeface="Segoe UI"/>
              </a:defRPr>
            </a:pPr>
            <a:r>
              <a:t>Moritz  ·  Luca  ·  Jonas  ·  Hilda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